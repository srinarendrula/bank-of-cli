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BANK OF CLI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A layered, tested Java banking application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0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CBD3E0"/>
                </a:solidFill>
                <a:latin typeface="Georgia"/>
                <a:ea typeface="Georgia"/>
                <a:cs typeface="Georgia"/>
                <a:sym typeface="Georgia"/>
              </a:rPr>
              <a:t>Sri Narendrula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A Core Ledger, built to spec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1627632"/>
            <a:ext cx="109728" cy="457200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868680" y="1554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Secure Access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868680" y="193852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Register &amp; log in with an Account ID + PIN, hashed with BCrypt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2679192"/>
            <a:ext cx="109728" cy="457200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86868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Balance Management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868680" y="299008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Check current balance at any 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3730752"/>
            <a:ext cx="109728" cy="457200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86868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Transaction Engine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68680" y="404164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Deposit, withdraw, and transfer — with overdraft protection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4782312"/>
            <a:ext cx="109728" cy="457200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868680" y="4709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Audit Trail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68680" y="50932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Full transaction history per account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Three layers, one direction of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48640" y="1828800"/>
            <a:ext cx="3429000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777240" y="21031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777240" y="2697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Terminal menu, input,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777240" y="4297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Georgia"/>
              <a:buNone/>
            </a:pPr>
            <a:r>
              <a:rPr b="0" i="1" lang="en-US" sz="1150" u="none" cap="none" strike="noStrike">
                <a:solidFill>
                  <a:srgbClr val="8A8A8A"/>
                </a:solidFill>
                <a:latin typeface="Georgia"/>
                <a:ea typeface="Georgia"/>
                <a:cs typeface="Georgia"/>
                <a:sym typeface="Georgia"/>
              </a:rPr>
              <a:t>Talks only to Service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3977640" y="306324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389120" y="1828800"/>
            <a:ext cx="3429000" cy="30175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4617720" y="21031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Service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4617720" y="2697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7EE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E4E7EE"/>
                </a:solidFill>
                <a:latin typeface="Georgia"/>
                <a:ea typeface="Georgia"/>
                <a:cs typeface="Georgia"/>
                <a:sym typeface="Georgia"/>
              </a:rPr>
              <a:t>Business rules — overdraft checks,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7EE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E4E7EE"/>
                </a:solidFill>
                <a:latin typeface="Georgia"/>
                <a:ea typeface="Georgia"/>
                <a:cs typeface="Georgia"/>
                <a:sym typeface="Georgia"/>
              </a:rPr>
              <a:t>PIN hashing, atomic transfers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4617720" y="4297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150"/>
              <a:buFont typeface="Georgia"/>
              <a:buNone/>
            </a:pPr>
            <a:r>
              <a:rPr b="0" i="1" lang="en-US" sz="115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Talks only to Repository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818120" y="306324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229600" y="1828800"/>
            <a:ext cx="3429000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8458200" y="21031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Repository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8458200" y="2697480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JDBC ↔ Postgres,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row ↔ object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458200" y="4297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Georgia"/>
              <a:buNone/>
            </a:pPr>
            <a:r>
              <a:rPr b="0" i="1" lang="en-US" sz="1150" u="none" cap="none" strike="noStrike">
                <a:solidFill>
                  <a:srgbClr val="8A8A8A"/>
                </a:solidFill>
                <a:latin typeface="Georgia"/>
                <a:ea typeface="Georgia"/>
                <a:cs typeface="Georgia"/>
                <a:sym typeface="Georgia"/>
              </a:rPr>
              <a:t>Talks only to the database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48640" y="51206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Each layer only calls the one below it — no skipping, no shortcuts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Stack &amp; schema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Tech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548640" y="2011680"/>
            <a:ext cx="5120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Georgia"/>
              <a:buChar char="•"/>
            </a:pPr>
            <a:r>
              <a:rPr b="0" i="0" lang="en-US" sz="14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Java + Maven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Georgia"/>
              <a:buChar char="•"/>
            </a:pPr>
            <a:r>
              <a:rPr b="0" i="0" lang="en-US" sz="14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PostgreSQL (Docker)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Georgia"/>
              <a:buChar char="•"/>
            </a:pPr>
            <a:r>
              <a:rPr b="0" i="0" lang="en-US" sz="14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JDBC (PreparedStatement)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Georgia"/>
              <a:buChar char="•"/>
            </a:pPr>
            <a:r>
              <a:rPr b="0" i="0" lang="en-US" sz="14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JUnit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Georgia"/>
              <a:buChar char="•"/>
            </a:pPr>
            <a:r>
              <a:rPr b="0" i="0" lang="en-US" sz="14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Git &amp;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6035040" y="16002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Schema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035040" y="2011680"/>
            <a:ext cx="539496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6263640" y="2148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ourier New"/>
                <a:ea typeface="Courier New"/>
                <a:cs typeface="Courier New"/>
                <a:sym typeface="Courier New"/>
              </a:rPr>
              <a:t>accounts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6263640" y="25146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account_id · pin_hash · balance (NUMERIC) · created_at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035040" y="3566160"/>
            <a:ext cx="539496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6263640" y="37033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3294B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6263640" y="406908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transaction_id · account_id (FK) · transaction_type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amount · related_account_id · created_at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50"/>
              <a:buFont typeface="Georgia"/>
              <a:buNone/>
            </a:pPr>
            <a:r>
              <a:rPr b="0" i="1" lang="en-US" sz="12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NUMERIC, never FLOAT — exact decimals for money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Entity relationship diagram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005840" y="1920240"/>
            <a:ext cx="4206240" cy="5029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1188720" y="19202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accounts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005840" y="2423160"/>
            <a:ext cx="4206240" cy="278892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1143000" y="25328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8A94A"/>
                </a:solidFill>
                <a:latin typeface="Courier New"/>
                <a:ea typeface="Courier New"/>
                <a:cs typeface="Courier New"/>
                <a:sym typeface="Courier New"/>
              </a:rPr>
              <a:t>PK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600200" y="25328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account_id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3474720" y="25328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1143000" y="3218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1600200" y="3218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pin_hash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3474720" y="32186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VARCHAR(255)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1143000" y="39044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1600200" y="39044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balance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3474720" y="39044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NUMERIC(12,2)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143000" y="4590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600200" y="45902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created_at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3474720" y="45902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949440" y="1920240"/>
            <a:ext cx="4206240" cy="5029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7132320" y="19202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949440" y="2423160"/>
            <a:ext cx="4206240" cy="338328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7086600" y="2514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8A94A"/>
                </a:solidFill>
                <a:latin typeface="Courier New"/>
                <a:ea typeface="Courier New"/>
                <a:cs typeface="Courier New"/>
                <a:sym typeface="Courier New"/>
              </a:rPr>
              <a:t>PK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754380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9464040" y="25146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7086600" y="3063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8A94A"/>
                </a:solidFill>
                <a:latin typeface="Courier New"/>
                <a:ea typeface="Courier New"/>
                <a:cs typeface="Courier New"/>
                <a:sym typeface="Courier New"/>
              </a:rPr>
              <a:t>FK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543800" y="30632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account_id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9464040" y="306324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7086600" y="36118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7543800" y="36118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transaction_type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9464040" y="36118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VARCHAR(20)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708660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54380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9464040" y="4160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NUMERIC(12,2)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08660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543800" y="47091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related_account_id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9464040" y="470916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086600" y="5257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543800" y="5257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created_at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9464040" y="52578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7"/>
          <p:cNvCxnSpPr/>
          <p:nvPr/>
        </p:nvCxnSpPr>
        <p:spPr>
          <a:xfrm>
            <a:off x="5212080" y="2697480"/>
            <a:ext cx="1737360" cy="0"/>
          </a:xfrm>
          <a:prstGeom prst="straightConnector1">
            <a:avLst/>
          </a:prstGeom>
          <a:noFill/>
          <a:ln cap="flat" cmpd="sng" w="25400">
            <a:solidFill>
              <a:srgbClr val="1329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 txBox="1"/>
          <p:nvPr/>
        </p:nvSpPr>
        <p:spPr>
          <a:xfrm>
            <a:off x="5257800" y="23317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537960" y="23317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∞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303520" y="27706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references account_id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50"/>
              <a:buFont typeface="Georgia"/>
              <a:buNone/>
            </a:pPr>
            <a:r>
              <a:rPr b="0" i="1" lang="en-US" sz="12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One account has many transactions — related_account_id links the two sides of a transfer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GOLD STANDARDS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Atomicity &amp; security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All-or-nothing transfers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548640" y="210312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Both balance updates + both transaction records share one JDBC Connection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conn.setAutoCommit(false) — nothing is permanent until commit()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Any failure triggers rollback() — money never vanishes or duplicates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6263640" y="16459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Secure access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6263640" y="210312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PINs hashed with BCrypt before touching the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Auto-salted — identical PINs produce different hashes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Georgia"/>
              <a:buChar char="•"/>
            </a:pPr>
            <a:r>
              <a:rPr b="0" i="0" lang="en-US" sz="13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DB errors are logged, never shown as raw stack traces to the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“Service Unavailable” instead of a stack trace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14400" y="548640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CBD3E0"/>
                </a:solidFill>
                <a:latin typeface="Georgia"/>
                <a:ea typeface="Georgia"/>
                <a:cs typeface="Georgia"/>
                <a:sym typeface="Georgia"/>
              </a:rPr>
              <a:t>Technical failures are logged at ERROR level for the developer; the user only ever sees a friendly, non-technical message.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Proven, not just working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548640" y="16459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The 2-Test Rule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548640" y="20574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Every Service and Repository method: one positive test, one negative test.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48640" y="2798064"/>
            <a:ext cx="91440" cy="384048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822960" y="27432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createAccount / findById / updateBalance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852160" y="274320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Valid insert &amp; lookup  —  NOT NULL &amp; missing-row rejections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48640" y="3483864"/>
            <a:ext cx="91440" cy="384048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822960" y="34290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recordTransaction / findByAccountId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5852160" y="342900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Correct fields saved  —  bad foreign key rejected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48640" y="4169664"/>
            <a:ext cx="91440" cy="384048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822960" y="41148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register / login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852160" y="411480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Successful auth  —  wrong PIN throws SecurityException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4855464"/>
            <a:ext cx="91440" cy="384048"/>
          </a:xfrm>
          <a:prstGeom prst="rect">
            <a:avLst/>
          </a:prstGeom>
          <a:solidFill>
            <a:srgbClr val="C8A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822960" y="48006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deposit / withdraw / transfer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852160" y="480060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rPr>
              <a:t>Balances update correctly  —  overdraft &amp; failed transfer roll back cleanly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5806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3294B"/>
                </a:solidFill>
                <a:latin typeface="Georgia"/>
                <a:ea typeface="Georgia"/>
                <a:cs typeface="Georgia"/>
                <a:sym typeface="Georgia"/>
              </a:rPr>
              <a:t>23 / 23 tests passing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Register → Login → Deposit → Withdraw → Transfer → History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548640" y="265176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4E7EE"/>
              </a:buClr>
              <a:buSzPts val="1500"/>
              <a:buFont typeface="Georgia"/>
              <a:buChar char="•"/>
            </a:pPr>
            <a:r>
              <a:rPr b="0" i="0" lang="en-US" sz="1500" u="none" cap="none" strike="noStrike">
                <a:solidFill>
                  <a:srgbClr val="E4E7EE"/>
                </a:solidFill>
                <a:latin typeface="Georgia"/>
                <a:ea typeface="Georgia"/>
                <a:cs typeface="Georgia"/>
                <a:sym typeface="Georgia"/>
              </a:rPr>
              <a:t>Runs entirely in the terminal, backed by Postgres in Docker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E4E7EE"/>
              </a:buClr>
              <a:buSzPts val="1500"/>
              <a:buFont typeface="Georgia"/>
              <a:buChar char="•"/>
            </a:pPr>
            <a:r>
              <a:rPr b="0" i="0" lang="en-US" sz="1500" u="none" cap="none" strike="noStrike">
                <a:solidFill>
                  <a:srgbClr val="E4E7EE"/>
                </a:solidFill>
                <a:latin typeface="Georgia"/>
                <a:ea typeface="Georgia"/>
                <a:cs typeface="Georgia"/>
                <a:sym typeface="Georgia"/>
              </a:rPr>
              <a:t>Every action logged — INFO for success, ERROR for failure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E4E7EE"/>
              </a:buClr>
              <a:buSzPts val="1500"/>
              <a:buFont typeface="Georgia"/>
              <a:buChar char="•"/>
            </a:pPr>
            <a:r>
              <a:rPr b="0" i="0" lang="en-US" sz="1500" u="none" cap="none" strike="noStrike">
                <a:solidFill>
                  <a:srgbClr val="E4E7EE"/>
                </a:solidFill>
                <a:latin typeface="Georgia"/>
                <a:ea typeface="Georgia"/>
                <a:cs typeface="Georgia"/>
                <a:sym typeface="Georgia"/>
              </a:rPr>
              <a:t>Layered architecture enforced end to end, from menu to 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548640" y="54864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94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8A94A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0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BD3E0"/>
                </a:solidFill>
                <a:latin typeface="Georgia"/>
                <a:ea typeface="Georgia"/>
                <a:cs typeface="Georgia"/>
                <a:sym typeface="Georgia"/>
              </a:rPr>
              <a:t>github.com/SriNarendrula/bank-of-cli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